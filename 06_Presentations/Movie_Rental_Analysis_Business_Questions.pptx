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3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0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23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0" cy="6858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121920" y="304800"/>
            <a:ext cx="426720" cy="426720"/>
          </a:xfrm>
          <a:prstGeom prst="rect">
            <a:avLst/>
          </a:prstGeom>
          <a:solidFill>
            <a:srgbClr val="0A0A0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21920" y="1036320"/>
            <a:ext cx="426720" cy="426720"/>
          </a:xfrm>
          <a:prstGeom prst="rect">
            <a:avLst/>
          </a:prstGeom>
          <a:solidFill>
            <a:srgbClr val="0A0A0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21920" y="1767840"/>
            <a:ext cx="426720" cy="426720"/>
          </a:xfrm>
          <a:prstGeom prst="rect">
            <a:avLst/>
          </a:prstGeom>
          <a:solidFill>
            <a:srgbClr val="0A0A0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121920" y="2499360"/>
            <a:ext cx="426720" cy="426720"/>
          </a:xfrm>
          <a:prstGeom prst="rect">
            <a:avLst/>
          </a:prstGeom>
          <a:solidFill>
            <a:srgbClr val="0A0A0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121920" y="3230880"/>
            <a:ext cx="426720" cy="426720"/>
          </a:xfrm>
          <a:prstGeom prst="rect">
            <a:avLst/>
          </a:prstGeom>
          <a:solidFill>
            <a:srgbClr val="0A0A0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121920" y="3962400"/>
            <a:ext cx="426720" cy="426720"/>
          </a:xfrm>
          <a:prstGeom prst="rect">
            <a:avLst/>
          </a:prstGeom>
          <a:solidFill>
            <a:srgbClr val="0A0A0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21920" y="4693920"/>
            <a:ext cx="426720" cy="426720"/>
          </a:xfrm>
          <a:prstGeom prst="rect">
            <a:avLst/>
          </a:prstGeom>
          <a:solidFill>
            <a:srgbClr val="0A0A0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21920" y="5425440"/>
            <a:ext cx="426720" cy="426720"/>
          </a:xfrm>
          <a:prstGeom prst="rect">
            <a:avLst/>
          </a:prstGeom>
          <a:solidFill>
            <a:srgbClr val="0A0A0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121920" y="6156960"/>
            <a:ext cx="426720" cy="426720"/>
          </a:xfrm>
          <a:prstGeom prst="rect">
            <a:avLst/>
          </a:prstGeom>
          <a:solidFill>
            <a:srgbClr val="0A0A0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70560" y="0"/>
            <a:ext cx="11521440" cy="6858000"/>
          </a:xfrm>
          <a:prstGeom prst="rect">
            <a:avLst/>
          </a:prstGeom>
          <a:solidFill>
            <a:srgbClr val="1C142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1036320" y="670560"/>
            <a:ext cx="3413760" cy="512064"/>
          </a:xfrm>
          <a:prstGeom prst="roundRect">
            <a:avLst>
              <a:gd name="adj" fmla="val 14286"/>
            </a:avLst>
          </a:prstGeom>
          <a:solidFill>
            <a:srgbClr val="8B1A1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036320" y="670560"/>
            <a:ext cx="341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POWER BI CAPSTONE PROJECT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402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Sakila DVD Rental</a:t>
            </a:r>
            <a:endParaRPr lang="en-US" sz="5333" dirty="0"/>
          </a:p>
        </p:txBody>
      </p:sp>
      <p:sp>
        <p:nvSpPr>
          <p:cNvPr id="16" name="Text 14"/>
          <p:cNvSpPr/>
          <p:nvPr/>
        </p:nvSpPr>
        <p:spPr>
          <a:xfrm>
            <a:off x="914400" y="2438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i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Business Intelligence</a:t>
            </a:r>
            <a:endParaRPr lang="en-US" sz="2933" dirty="0"/>
          </a:p>
        </p:txBody>
      </p:sp>
      <p:sp>
        <p:nvSpPr>
          <p:cNvPr id="17" name="Text 15"/>
          <p:cNvSpPr/>
          <p:nvPr/>
        </p:nvSpPr>
        <p:spPr>
          <a:xfrm>
            <a:off x="914400" y="353568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9E8C8C"/>
                </a:solidFill>
              </a:rPr>
              <a:t>Done by: </a:t>
            </a:r>
            <a:r>
              <a:rPr lang="en-US" sz="1600" b="1" dirty="0">
                <a:solidFill>
                  <a:srgbClr val="FFFFFF"/>
                </a:solidFill>
              </a:rPr>
              <a:t>Pavan Kumar Magandi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96240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9E8C8C"/>
                </a:solidFill>
              </a:rPr>
              <a:t>Qualification: </a:t>
            </a:r>
            <a:r>
              <a:rPr lang="en-US" sz="1600" b="1" dirty="0">
                <a:solidFill>
                  <a:srgbClr val="FFFFFF"/>
                </a:solidFill>
              </a:rPr>
              <a:t>MBA  ·  pavanmagandi@gmail.com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6085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D4A017"/>
                </a:solidFill>
              </a:rPr>
              <a:t>Tools Used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914400" y="4998720"/>
            <a:ext cx="1706880" cy="707136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914400" y="4998720"/>
            <a:ext cx="1706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SQL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04160" y="4998720"/>
            <a:ext cx="1706880" cy="707136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2804160" y="4998720"/>
            <a:ext cx="1706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Excel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93920" y="4998720"/>
            <a:ext cx="1706880" cy="707136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4693920" y="4998720"/>
            <a:ext cx="1706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Power BI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717280" y="426720"/>
            <a:ext cx="3291840" cy="1341120"/>
          </a:xfrm>
          <a:prstGeom prst="rect">
            <a:avLst/>
          </a:prstGeom>
          <a:solidFill>
            <a:srgbClr val="2B1A2E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8717280" y="426720"/>
            <a:ext cx="3291840" cy="9753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8717280" y="548640"/>
            <a:ext cx="32918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67.41K</a:t>
            </a:r>
            <a:endParaRPr lang="en-US" sz="3467" dirty="0"/>
          </a:p>
        </p:txBody>
      </p:sp>
      <p:sp>
        <p:nvSpPr>
          <p:cNvPr id="29" name="Text 27"/>
          <p:cNvSpPr/>
          <p:nvPr/>
        </p:nvSpPr>
        <p:spPr>
          <a:xfrm>
            <a:off x="8717280" y="1219200"/>
            <a:ext cx="3291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E8D5D5"/>
                </a:solidFill>
              </a:rPr>
              <a:t>Total Revenue</a:t>
            </a:r>
            <a:endParaRPr lang="en-US" sz="1267" dirty="0"/>
          </a:p>
        </p:txBody>
      </p:sp>
      <p:sp>
        <p:nvSpPr>
          <p:cNvPr id="30" name="Shape 28"/>
          <p:cNvSpPr/>
          <p:nvPr/>
        </p:nvSpPr>
        <p:spPr>
          <a:xfrm>
            <a:off x="8717280" y="1987296"/>
            <a:ext cx="3291840" cy="1341120"/>
          </a:xfrm>
          <a:prstGeom prst="rect">
            <a:avLst/>
          </a:prstGeom>
          <a:solidFill>
            <a:srgbClr val="2B1A2E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Shape 29"/>
          <p:cNvSpPr/>
          <p:nvPr/>
        </p:nvSpPr>
        <p:spPr>
          <a:xfrm>
            <a:off x="8717280" y="1987296"/>
            <a:ext cx="3291840" cy="9753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8717280" y="2109216"/>
            <a:ext cx="32918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584</a:t>
            </a:r>
            <a:endParaRPr lang="en-US" sz="3467" dirty="0"/>
          </a:p>
        </p:txBody>
      </p:sp>
      <p:sp>
        <p:nvSpPr>
          <p:cNvPr id="33" name="Text 31"/>
          <p:cNvSpPr/>
          <p:nvPr/>
        </p:nvSpPr>
        <p:spPr>
          <a:xfrm>
            <a:off x="8717280" y="2779776"/>
            <a:ext cx="3291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E8D5D5"/>
                </a:solidFill>
              </a:rPr>
              <a:t>Active Customers</a:t>
            </a:r>
            <a:endParaRPr lang="en-US" sz="1267" dirty="0"/>
          </a:p>
        </p:txBody>
      </p:sp>
      <p:sp>
        <p:nvSpPr>
          <p:cNvPr id="34" name="Shape 32"/>
          <p:cNvSpPr/>
          <p:nvPr/>
        </p:nvSpPr>
        <p:spPr>
          <a:xfrm>
            <a:off x="8717280" y="3547872"/>
            <a:ext cx="3291840" cy="1341120"/>
          </a:xfrm>
          <a:prstGeom prst="rect">
            <a:avLst/>
          </a:prstGeom>
          <a:solidFill>
            <a:srgbClr val="2B1A2E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8717280" y="3547872"/>
            <a:ext cx="3291840" cy="9753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8717280" y="3669792"/>
            <a:ext cx="32918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3467" dirty="0"/>
          </a:p>
        </p:txBody>
      </p:sp>
      <p:sp>
        <p:nvSpPr>
          <p:cNvPr id="37" name="Text 35"/>
          <p:cNvSpPr/>
          <p:nvPr/>
        </p:nvSpPr>
        <p:spPr>
          <a:xfrm>
            <a:off x="8717280" y="4340352"/>
            <a:ext cx="3291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E8D5D5"/>
                </a:solidFill>
              </a:rPr>
              <a:t>Total Rentals</a:t>
            </a:r>
            <a:endParaRPr lang="en-US" sz="1267" dirty="0"/>
          </a:p>
        </p:txBody>
      </p:sp>
      <p:sp>
        <p:nvSpPr>
          <p:cNvPr id="38" name="Shape 36"/>
          <p:cNvSpPr/>
          <p:nvPr/>
        </p:nvSpPr>
        <p:spPr>
          <a:xfrm>
            <a:off x="8717280" y="5108448"/>
            <a:ext cx="3291840" cy="1341120"/>
          </a:xfrm>
          <a:prstGeom prst="rect">
            <a:avLst/>
          </a:prstGeom>
          <a:solidFill>
            <a:srgbClr val="2B1A2E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9" name="Shape 37"/>
          <p:cNvSpPr/>
          <p:nvPr/>
        </p:nvSpPr>
        <p:spPr>
          <a:xfrm>
            <a:off x="8717280" y="5108448"/>
            <a:ext cx="3291840" cy="9753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8717280" y="5230368"/>
            <a:ext cx="32918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3467" dirty="0"/>
          </a:p>
        </p:txBody>
      </p:sp>
      <p:sp>
        <p:nvSpPr>
          <p:cNvPr id="41" name="Text 39"/>
          <p:cNvSpPr/>
          <p:nvPr/>
        </p:nvSpPr>
        <p:spPr>
          <a:xfrm>
            <a:off x="8717280" y="5900928"/>
            <a:ext cx="32918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E8D5D5"/>
                </a:solidFill>
              </a:rPr>
              <a:t>Avg Rental Days</a:t>
            </a:r>
            <a:endParaRPr lang="en-US" sz="1267" dirty="0"/>
          </a:p>
        </p:txBody>
      </p:sp>
      <p:sp>
        <p:nvSpPr>
          <p:cNvPr id="42" name="Text 40"/>
          <p:cNvSpPr/>
          <p:nvPr/>
        </p:nvSpPr>
        <p:spPr>
          <a:xfrm>
            <a:off x="914400" y="646176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E8C8C"/>
                </a:solidFill>
              </a:rPr>
              <a:t>Dataset: Sakila (MySQL) — DVD Rental Store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10">
            <a:extLst>
              <a:ext uri="{FF2B5EF4-FFF2-40B4-BE49-F238E27FC236}">
                <a16:creationId xmlns:a16="http://schemas.microsoft.com/office/drawing/2014/main" id="{23FEFD21-980E-54DE-148C-AA54A0CC7610}"/>
              </a:ext>
            </a:extLst>
          </p:cNvPr>
          <p:cNvSpPr/>
          <p:nvPr/>
        </p:nvSpPr>
        <p:spPr>
          <a:xfrm>
            <a:off x="670560" y="0"/>
            <a:ext cx="11521440" cy="6858000"/>
          </a:xfrm>
          <a:prstGeom prst="rect">
            <a:avLst/>
          </a:prstGeom>
          <a:solidFill>
            <a:srgbClr val="1C142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0" cy="45720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594360"/>
            <a:ext cx="1097280" cy="1097280"/>
          </a:xfrm>
          <a:prstGeom prst="ellipse">
            <a:avLst/>
          </a:prstGeom>
          <a:solidFill>
            <a:srgbClr val="A5333B"/>
          </a:solidFill>
          <a:ln w="25400">
            <a:solidFill>
              <a:srgbClr val="F2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594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828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" y="2377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2880" y="2926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800" dirty="0">
                <a:solidFill>
                  <a:srgbClr val="F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2926080" cy="36576"/>
          </a:xfrm>
          <a:prstGeom prst="rect">
            <a:avLst/>
          </a:prstGeom>
          <a:solidFill>
            <a:srgbClr val="F2C4B8"/>
          </a:solidFill>
          <a:ln w="12700">
            <a:solidFill>
              <a:srgbClr val="F2C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Kumar Magandi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 |  Power BI Analyst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" y="4526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pavanmagandi@gmail.com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2286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INDEX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023360" y="777240"/>
            <a:ext cx="7955280" cy="36576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77640" y="914400"/>
            <a:ext cx="379476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977640" y="914400"/>
            <a:ext cx="475488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77640" y="9144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98848" y="950976"/>
            <a:ext cx="32461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sales revenue vary by month?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77640" y="1600200"/>
            <a:ext cx="379476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77640" y="1600200"/>
            <a:ext cx="475488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77640" y="16002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98848" y="1636776"/>
            <a:ext cx="32461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sales by payment method?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77640" y="2286000"/>
            <a:ext cx="379476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77640" y="2286000"/>
            <a:ext cx="475488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77640" y="22860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98848" y="2322576"/>
            <a:ext cx="32461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generate the highest sales?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77640" y="2971800"/>
            <a:ext cx="379476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77640" y="2971800"/>
            <a:ext cx="475488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77640" y="29718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98848" y="3008376"/>
            <a:ext cx="32461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films by rental duration?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77640" y="3657600"/>
            <a:ext cx="379476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77640" y="3657600"/>
            <a:ext cx="475488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77640" y="36576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98848" y="3694176"/>
            <a:ext cx="32461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inventory vary by film rating?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77640" y="4343400"/>
            <a:ext cx="379476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977640" y="4343400"/>
            <a:ext cx="475488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77640" y="43434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98848" y="4379976"/>
            <a:ext cx="32461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breakdown of film categories in the inventory?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977640" y="5029200"/>
            <a:ext cx="379476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977640" y="5029200"/>
            <a:ext cx="475488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77640" y="50292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98848" y="5065776"/>
            <a:ext cx="32461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staff by employment duration?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977640" y="5715000"/>
            <a:ext cx="379476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977640" y="5715000"/>
            <a:ext cx="475488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77640" y="57150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98848" y="5751576"/>
            <a:ext cx="324612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store performance vary by location?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909560" y="914400"/>
            <a:ext cx="406908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909560" y="914400"/>
            <a:ext cx="50292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909560" y="914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58200" y="950976"/>
            <a:ext cx="3493008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rental duration by staff member?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909560" y="1600200"/>
            <a:ext cx="406908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909560" y="1600200"/>
            <a:ext cx="50292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909560" y="16002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458200" y="1636776"/>
            <a:ext cx="3493008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customers across different cities?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909560" y="2286000"/>
            <a:ext cx="406908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909560" y="2286000"/>
            <a:ext cx="50292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909560" y="2286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458200" y="2322576"/>
            <a:ext cx="3493008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rental revenue vary by country?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909560" y="2971800"/>
            <a:ext cx="406908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09560" y="2971800"/>
            <a:ext cx="50292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909560" y="2971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458200" y="3008376"/>
            <a:ext cx="3493008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locations have the highest and lowest customer ratings?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909560" y="3657600"/>
            <a:ext cx="406908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909560" y="3657600"/>
            <a:ext cx="50292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909560" y="36576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458200" y="3694176"/>
            <a:ext cx="3493008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films by language?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909560" y="4343400"/>
            <a:ext cx="406908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909560" y="4343400"/>
            <a:ext cx="50292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909560" y="4343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58200" y="4379976"/>
            <a:ext cx="3493008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film categories have the highest rental rates?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909560" y="5029200"/>
            <a:ext cx="4069080" cy="594360"/>
          </a:xfrm>
          <a:prstGeom prst="rect">
            <a:avLst/>
          </a:prstGeom>
          <a:solidFill>
            <a:srgbClr val="FDF4EF"/>
          </a:solidFill>
          <a:ln w="1016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909560" y="5029200"/>
            <a:ext cx="50292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909560" y="50292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458200" y="5065776"/>
            <a:ext cx="3493008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average rental duration vary by film category?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sales revenue vary by month?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$67.41K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Monthly Revenue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$13K/mo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Target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Growth Feb–Jul 2005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surged from near $0 in Feb 2005 to ~$20K by July 2005 — a 100x increase in 5 months, driven by rapid customer acquisition.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Consistently Beaten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$13K/month benchmark was surpassed from June 2005 onwards and maintained, confirming the business reached sustainable revenue scale.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Dip Signals Seasonality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eased slightly in August 2005. This may reflect end-of-summer demand softening — worth tracking in Year 2 for seasonal planning.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promotions in Aug–Sep to defend against seasonal dips. Bundle discounts on high-demand categories like Sports &amp; Games.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Q1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355A3CA-9577-9C31-6E8B-E5AE721E9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02" y="2114828"/>
            <a:ext cx="4030479" cy="242972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579CEC-E8DA-08E8-DDDD-76ACB55BA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356" y="4007651"/>
            <a:ext cx="3901439" cy="24297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sales by payment method?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$34K (41%)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$33K (40%)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Revenue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Channel Split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($34K, ~8K txns) and Online ($33K, ~8K txns) are virtually tied — both channels contribute equally, unlike most retail businesses where one dominates.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Earns ~3% More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equal transaction counts, In-Store generates slightly more revenue, implying higher-value rentals occur in-person — premium titles, bundles, or longer durations.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Growth Opportunity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has near-identical volume to in-store already. Closing the $1K revenue gap via upsell (e.g. premium memberships, late-night access) could lift online to #1.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online-exclusive loyalty rewards and 'digital first' rental offers to shift the mix toward Online — lower overhead, higher scalability.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Q2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79E0E13-250C-80D1-4408-AE64CBCEB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72" y="2192020"/>
            <a:ext cx="7137400" cy="425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generate the highest sales?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~$10K+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Mid-Value (80–150)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(&gt;150) Revenue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~$2.5K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 (&lt;80) Revenue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Mid-Value Dominates Revenue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80–150 segment delivers the largest revenue block (~$10K+), making it the business's commercial backbone despite not being the biggest spender per head.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High-Value: Biggest LTV Customers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&gt;150 segment produces ~$7K from the fewest customers, confirming extremely high lifetime value per individual — 3–4x the average customer.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Low-Value: High Volume, Low Return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&lt;80 segment has the largest customer count but contributes only ~$2.5K total, suggesting shallow engagement or low rental frequency.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tier-based loyalty programs: upgrade Mid-Value to High-Value via premium bundles, and re-engage Low-Value with first-rental discounts and genre recommendations.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Q3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E57E77E-C8C8-2774-68FA-97289E5D7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38" y="2082598"/>
            <a:ext cx="7014971" cy="43935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films by rental duration?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Inventory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Films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Duration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Tiers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Rental Durations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pic>
        <p:nvPicPr>
          <p:cNvPr id="21" name="Image 0" descr="/home/claude/q4_rental_duration.jpg"/>
          <p:cNvPicPr>
            <a:picLocks noChangeAspect="1"/>
          </p:cNvPicPr>
          <p:nvPr/>
        </p:nvPicPr>
        <p:blipFill>
          <a:blip r:embed="rId3"/>
          <a:srcRect r="15819" b="9244"/>
          <a:stretch>
            <a:fillRect/>
          </a:stretch>
        </p:blipFill>
        <p:spPr>
          <a:xfrm>
            <a:off x="531223" y="2121408"/>
            <a:ext cx="7094002" cy="43082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Rentals Dominate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with a 6-day rental window form the largest group (~175+ titles), giving customers the most flexibility. All movie length types (short, medium, long) appear in this tier.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4-Day Tier is Undersupplied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4-day duration has the fewest films. This gap may limit customer choice for mid-length rental periods — a potential restocking priority.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Films Skew Short Durations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Interestingly, films &gt;165 mins appear even in shorter rental tiers, suggesting pricing decisions are not consistently length-based.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rental duration to film length more tightly: shorter films → 3–4 day slots, longer films → 6–7 day slots. This maximises inventory turnover.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Q4 of 15  ·  Pavan Kumar Magandi  ·  MBA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inventory vary by film rating?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Inventory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4,581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copies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Rating (PG-13)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Ratings Tracked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pic>
        <p:nvPicPr>
          <p:cNvPr id="21" name="Image 0" descr="/home/claude/q5_inventory_rating.jpg"/>
          <p:cNvPicPr>
            <a:picLocks noChangeAspect="1"/>
          </p:cNvPicPr>
          <p:nvPr/>
        </p:nvPicPr>
        <p:blipFill>
          <a:blip r:embed="rId3"/>
          <a:srcRect l="18247" t="11765" r="118" b="5463"/>
          <a:stretch>
            <a:fillRect/>
          </a:stretch>
        </p:blipFill>
        <p:spPr>
          <a:xfrm>
            <a:off x="304800" y="2097894"/>
            <a:ext cx="7405390" cy="4229753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PG-13 Overwhelmingly Dominates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PG-13 holds ~1,000 inventory copies — more than double the G-rated category. This reflects demand-driven stocking for teen/adult audiences.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NC-17 &amp; PG Are Competitive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NC-17 and PG films both carry 500–700 copies, forming a strong middle tier. The breadth signals the store serves varied audience demographics.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G-Rated Films Are Understocked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G-rated films hold the lowest inventory. Family-viewing demand — especially in family-heavy geographic clusters — may be under-served.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G-rated inventory against rental frequency. If G titles rent frequently despite low stock, boost procurement to capture missed family-segment revenue.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Q5 of 15  ·  Pavan Kumar Magandi  ·  MBA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breakdown of film categories in the inventory?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Inventory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Categories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(7.4%)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Category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(5.6%)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Category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Remarkably Even Distribution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categories fall within a narrow 5.6%–7.4% band — less than 2% spread — indicating a deliberate, balanced inventory procurement strategy.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Leads Narrowly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edges the field at 7.4% (74 titles), likely due to strong repeat-rental behavior and broad viewer demographics, both male and female.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is Over-Concentrated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many rental stores that over-index on Action or Drama, this store avoids inventory lock-in risk. No single genre can hurt the business if demand shifts.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rental-rate-per-category (not just stock count). Invest in categories with the highest turn rate (e.g. if New releases rent fastest, expand that allocation).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Q6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7597CF3-4E89-024B-D6BD-4C5DA2CFB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4" y="2029968"/>
            <a:ext cx="6819900" cy="4406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staff by employment duration?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HR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Staff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Employment Duration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5.03 Days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Rental Duration/Staff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pic>
        <p:nvPicPr>
          <p:cNvPr id="21" name="Image 0" descr="/home/claude/q7_staff_employment.jpg"/>
          <p:cNvPicPr>
            <a:picLocks noChangeAspect="1"/>
          </p:cNvPicPr>
          <p:nvPr/>
        </p:nvPicPr>
        <p:blipFill>
          <a:blip r:embed="rId3"/>
          <a:srcRect l="9586" t="13025" r="9620" b="3361"/>
          <a:stretch>
            <a:fillRect/>
          </a:stretch>
        </p:blipFill>
        <p:spPr>
          <a:xfrm>
            <a:off x="408431" y="2103120"/>
            <a:ext cx="7407511" cy="431833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Staff: 20-Year Veterans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IDs 1 &amp; 2 each have exactly 20 years of service — exceptional retention. This signals a stable, low-turnover operation with deep operational knowledge.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2 Outperforms on Volume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2 processed 8,121 rentals vs Staff 1's 7,923 — a 2.5% higher throughput. Staff 2 also generated $33,924 revenue vs Staff 1's $33,482.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Rental Is Consistent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staff maintain near-identical Revenue_per_Rental (~$4.20), confirming that pricing adherence and upsell behavior is uniform across the team.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long-tenure staff with performance bonuses tied to revenue per rental growth. Cross-train them on digital platforms to future-proof operations.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Q7 of 15  ·  Pavan Kumar Magandi  ·  MBA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store performance vary?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Operations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$67.41K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Store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per Rental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16,044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Across City Stores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KPIs fluctuate dramatically by city — some locations hit 200 Total_Revenue while others stay below 50. Revenue_per_Rental ranges $5–$20 per store.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Leaders vs Laggards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of 4–5 city stores drive outsized revenue. These are likely in dense urban markets (e.g. Aurora, London, large metros) with high foot traffic.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 Don't Always = Revenue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high-rental stores have low revenue per rental, suggesting they serve budget customers. High-revenue stores rent fewer but premium titles.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store-tiering model: high-revenue stores get premium inventory allocation; high-volume/low-revenue stores get targeted upsell training and promotions.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Q8 of 15  ·  Pavan Kumar Magandi  ·  MBA</a:t>
            </a:r>
            <a:endParaRPr lang="en-US" sz="8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49C6DD5B-5A7B-7AF3-890E-6333B9575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2795412"/>
            <a:ext cx="7699248" cy="2967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rental duration by staff member?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Operations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5.04 Days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1 Avg Duration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5.01 Days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2 Avg Duration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5.03 Days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Duration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pic>
        <p:nvPicPr>
          <p:cNvPr id="21" name="Image 0" descr="/home/claude/q9_staff_rental.jpg"/>
          <p:cNvPicPr>
            <a:picLocks noChangeAspect="1"/>
          </p:cNvPicPr>
          <p:nvPr/>
        </p:nvPicPr>
        <p:blipFill>
          <a:blip r:embed="rId3"/>
          <a:srcRect l="1342" t="13025" r="1166" b="5463"/>
          <a:stretch>
            <a:fillRect/>
          </a:stretch>
        </p:blipFill>
        <p:spPr>
          <a:xfrm>
            <a:off x="321348" y="2350008"/>
            <a:ext cx="7532914" cy="354787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Consistent Across Staff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staff members maintain an average rental duration of 5.01–5.04 days every single month from May 2005 through Feb 2006 — zero variation.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Month-Driven, Not Staff-Driven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2005 peaked at $14,370 revenue while Feb 2006 dropped to $280 — yet rental duration stayed constant. Demand seasonality drives revenue, not staff behavior.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8,121 Rentals Per Staff Every Period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Stephens processed exactly 8,121 total rentals regardless of month — suggesting a fixed customer base rather than volume growth over time.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incentives to extend avg rental duration beyond 5 days (e.g. +1 free day on 5-day rentals). Even a 10% increase in duration could lift revenue ~$6.7K.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Q9 of 15  ·  Pavan Kumar Magandi  ·  MBA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customers across different cities?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Geographic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&amp; London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Customer Per City on Average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599 customers across 599 cities, the average penetration is 1 customer/city — an extremely fragmented geographic footprint spanning every continent.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&amp; London: 2 Customers Each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only cities with &gt;1 customer, making them micro-clusters. London uniquely hosts a High-Value (&gt;150) customer — the only such instance by city.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Mid-Value Dominates All Geographies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bars (80–150 Mid-Value) appear in every top city. This segment is geographically consistent, making it the most reliable base for location-based campaigns.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city-cluster expansion model: target cities neighboring Aurora and London for acquisition. A High-Value customer in London signals premium market potential — run referral programs there first.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Q10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2E13AFE-928A-85E9-D3DF-60BF219F8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62" y="2391156"/>
            <a:ext cx="7556647" cy="34655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rental revenue vary by country?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Geographic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Active/Inactive Split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Countries — Truly Global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revenue is generated across 109 countries on 6 continents. The business has the geographic footprint of a multinational — extraordinary for a rentals operation.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Asia Are Revenue Hubs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revenue bubbles cluster in Western Europe and South/Southeast Asia. These regions likely represent both higher customer density and higher Average Order Value.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Customers Span All Regions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dots (inactive=0) appear globally, indicating customer churn is not geographically concentrated — it's a service/engagement issue rather than a regional one.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reactivation campaigns on Europe &amp; Asia first — highest ROI. Build a country-level revenue ranking to guide marketing spend allocation by region.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Q11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793ACD6-0130-4C39-1119-F90DDE276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86" y="2340864"/>
            <a:ext cx="7772400" cy="36045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locations have the highest and lowest customer ratings?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Geographic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Customers (1 Country)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~$5K+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Revenue (1 Country)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Customers/Country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30–60 customers generate $3K–$5K+ revenue, confirming that customer volume is the primary driver of country-level revenue.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of Low-Value Countries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109 countries hold 0–10 customers and contribute &lt;$500 revenue each — 80%+ of countries are in the low-value tail of the distribution.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Countries Drive Disproportionate Revenue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countries at 30–60 customers drive 5–10x more revenue than median countries. These are the top-tier strategic markets to protect and grow.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Top-10 Country Index — the 10 highest-customer countries. Assign dedicated marketing budgets, local pricing strategies, and retention programs to these markets exclusively.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Q12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31F3BDF-9563-A69F-C867-96EDE813C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96" y="2933264"/>
            <a:ext cx="7486302" cy="20430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films by language?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Inventory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Categories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~$3.25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$2.67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English-Language Inventory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reflects a single-language (English) inventory — no foreign-language segmentation is visible. All 1,000 films appear to be English-language titles.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&amp; Travel Command Premium Rates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(~$3.25/rental) and Travel are the highest-priced categories — ~22% more expensive than Action ($2.67) and Documentary ($2.76), the lowest-priced.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Gap Signals Demand Elasticity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$0.58 spread between highest and lowest-priced categories is significant — it shows the market accepts premium pricing for niche genres like Games.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small foreign-language film section (Spanish, Hindi, French) to tap underserved bilingual customers across the 109-country footprint. Even 50 titles could open a new segment.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Q13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8FB6451-D962-B286-C506-C0D267B8F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52" y="2137956"/>
            <a:ext cx="6908800" cy="43207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film categories have the highest rental rates?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Inventory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Rental Rate (All)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~$3.25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$2.67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Category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Leads by a Clear Margin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commands the highest average rental rate at ~$3.25 — approximately $0.58 or 22% above the lowest-priced Action category. Niche demand sustains the premium.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Sci-Fi Are Second Tier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and Sci-Fi follow Games closely in the $3.00–$3.20 range, forming a premium cluster. These genres likely attract dedicated enthusiasts willing to pay more.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Documentary Anchor the Floor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$2.67 and $2.76 respectively, Action and Documentary are priced lowest despite high rental volume — suggesting these categories compete on accessibility rather than premium.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10–15% price increase on Action titles — as the highest-volume category, even a $0.30 increase per rental could add $1,500–$2,000 in annual revenue with minimal demand drop.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Q14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797BB7D-1F3B-9763-7896-C690FB6D9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" y="2364813"/>
            <a:ext cx="7772400" cy="37503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37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average rental duration vary by film category?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0" y="182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Inventory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5.03 Days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 (All)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8224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~5.2 Days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78224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Category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005840"/>
            <a:ext cx="3840480" cy="658368"/>
          </a:xfrm>
          <a:prstGeom prst="rect">
            <a:avLst/>
          </a:prstGeom>
          <a:solidFill>
            <a:srgbClr val="FDF4EF"/>
          </a:solidFill>
          <a:ln w="12700">
            <a:solidFill>
              <a:srgbClr val="F2C4B8"/>
            </a:solidFill>
            <a:prstDash val="solid"/>
          </a:ln>
          <a:effectLst>
            <a:outerShdw blurRad="76200" dist="25400" dir="8100000" algn="bl" rotWithShape="0">
              <a:srgbClr val="D0A09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91856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~4.1 Days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91856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Category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1755648"/>
            <a:ext cx="7818120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592" y="1755648"/>
            <a:ext cx="7818120" cy="292608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" y="1773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 BI Visualization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1755648"/>
            <a:ext cx="3877056" cy="4736592"/>
          </a:xfrm>
          <a:prstGeom prst="rect">
            <a:avLst/>
          </a:prstGeom>
          <a:solidFill>
            <a:srgbClr val="FAFAFA"/>
          </a:solidFill>
          <a:ln w="15240">
            <a:solidFill>
              <a:srgbClr val="F2C4B8"/>
            </a:solidFill>
            <a:prstDash val="solid"/>
          </a:ln>
          <a:effectLst>
            <a:outerShdw blurRad="127000" dist="38100" dir="8100000" algn="bl" rotWithShape="0">
              <a:srgbClr val="C0A0A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solidFill>
            <a:srgbClr val="6B1820"/>
          </a:solidFill>
          <a:ln w="12700">
            <a:solidFill>
              <a:srgbClr val="6B1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19872" y="175564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19872" y="226771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229600" y="234086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59536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Sports: Most Engaging Category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95360" y="257860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films average ~5.2 days rental duration — the highest of all 16 categories. Customers hold them longest, suggesting repeat viewings or event-based watching.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11312" y="326440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29600" y="339242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9536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Animation Turned Over Fastest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595360" y="36301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~4.1 days, Travel and Animation films are returned the quickest. High turnover means more rental cycles per copy — boosting inventory efficiency for these titles.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11312" y="431596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119872" y="4370832"/>
            <a:ext cx="3877056" cy="10149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29600" y="444398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5953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4.0–5.2 Day Cluster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468172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categories fall within just 1.2 days of each other, reflecting the standard 5-day policy. Natural demand variation is present but policy constrains the range.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211312" y="5367528"/>
            <a:ext cx="3694176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229600" y="5495544"/>
            <a:ext cx="310896" cy="310896"/>
          </a:xfrm>
          <a:prstGeom prst="ellipse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595360" y="5477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0" y="573328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extended rentals (7-day option) specifically for Sports and Drama — the highest-duration categories. Charge a $0.50 premium per extra day to monetize the extended engagement.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EEE3"/>
          </a:solidFill>
          <a:ln w="12700">
            <a:solidFill>
              <a:srgbClr val="FCE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0" y="6583680"/>
            <a:ext cx="164592" cy="274320"/>
          </a:xfrm>
          <a:prstGeom prst="rect">
            <a:avLst/>
          </a:prstGeom>
          <a:solidFill>
            <a:srgbClr val="A5333B"/>
          </a:solidFill>
          <a:ln w="12700">
            <a:solidFill>
              <a:srgbClr val="A53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Rentals Capstone  ·  Q15 of 15  ·  Pavan Kumar Magandi  ·  MBA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54EA917-7460-3F71-FA6C-56331E38D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423160"/>
            <a:ext cx="7772400" cy="3733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2957</Words>
  <Application>Microsoft Macintosh PowerPoint</Application>
  <PresentationFormat>Widescreen</PresentationFormat>
  <Paragraphs>433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 kumar magandi</cp:lastModifiedBy>
  <cp:revision>2</cp:revision>
  <dcterms:created xsi:type="dcterms:W3CDTF">2026-05-17T08:38:52Z</dcterms:created>
  <dcterms:modified xsi:type="dcterms:W3CDTF">2026-05-17T08:59:03Z</dcterms:modified>
</cp:coreProperties>
</file>