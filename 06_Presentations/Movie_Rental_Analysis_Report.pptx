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22860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77724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" y="132588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" y="187452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242316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" y="297180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" y="3520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" y="406908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" y="461772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50292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2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 CAPSTONE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1051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Sakila DVD Rental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8580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Business Intelligence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2651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8C8C"/>
                </a:solidFill>
              </a:rPr>
              <a:t>Done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Pavan Kumar Magandi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8C8C"/>
                </a:solidFill>
              </a:rPr>
              <a:t>Qualification: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MBA  ·  pavanmagandi@gmail.com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</a:rPr>
              <a:t>Tools Used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1280160" cy="53035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7490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3749040"/>
            <a:ext cx="1280160" cy="53035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03120" y="37490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3749040"/>
            <a:ext cx="1280160" cy="53035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20440" y="37490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320040"/>
            <a:ext cx="2468880" cy="1005840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37960" y="320040"/>
            <a:ext cx="24688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114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67.41K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537960" y="914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Total Revenue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37960" y="1490472"/>
            <a:ext cx="2468880" cy="1005840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1490472"/>
            <a:ext cx="246888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158191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537960" y="20848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Active Customers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37960" y="2660904"/>
            <a:ext cx="2468880" cy="1005840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2660904"/>
            <a:ext cx="246888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7523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537960" y="3255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Total Rentals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3831336"/>
            <a:ext cx="2468880" cy="1005840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37960" y="3831336"/>
            <a:ext cx="24688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392277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6537960" y="44256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Avg Rental Days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8C8C"/>
                </a:solidFill>
              </a:rPr>
              <a:t>Dataset: Sakila (MySQL) — DVD Rental Store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14101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58200" y="228600"/>
            <a:ext cx="502920" cy="475488"/>
          </a:xfrm>
          <a:prstGeom prst="roundRect">
            <a:avLst>
              <a:gd name="adj" fmla="val 9615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228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64008" cy="822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0F0"/>
                </a:solidFill>
              </a:rPr>
              <a:t>Objective: Build a comprehensive Power BI dashboard using the Sakila DVD Rental Database to enable data-driven decisions across customer behavior, film inventory, staff performance, and store operations.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84832"/>
            <a:ext cx="54864" cy="8686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396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Customer Segmentation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4140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Analyze 584 active customers by rental frequency, payment behavior, and geographic distribution across 109 countries.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084832"/>
            <a:ext cx="54864" cy="8686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873752" y="213969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Sales &amp; Revenue Trends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241401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Track $67.41K total revenue, 0.77% MoM growth, and quarterly patterns across In-Store (41%) vs. Online (40%) channels.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44952"/>
            <a:ext cx="54864" cy="8686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0998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Film Inventory Optimization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37413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Manage 1,000 films across 16 categories, 4,581 inventory items, avg rental rate $2.98, and avg film duration 115.27 mins.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3044952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44952"/>
            <a:ext cx="54864" cy="8686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873752" y="309981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Store &amp; Staff Performance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37413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Compare 2 stores, 2 staff members handling 16,044 total rentals with avg rental duration of 5.03 days.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05072"/>
            <a:ext cx="54864" cy="8686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40599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Geographic Expansion Insights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433425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Identify revenue contribution and customer density across 599 cities in 109 countries to prioritize growth markets.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4005072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4005072"/>
            <a:ext cx="54864" cy="86868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40599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</a:rPr>
              <a:t>Actionable Recommendations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752" y="4334256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Deliver targeted marketing campaigns, film collection enhancements, and staff training initiatives for competitive advantage.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 — Sakila Database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458200" y="228600"/>
            <a:ext cx="502920" cy="475488"/>
          </a:xfrm>
          <a:prstGeom prst="roundRect">
            <a:avLst>
              <a:gd name="adj" fmla="val 9615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228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8C8C"/>
                </a:solidFill>
              </a:rPr>
              <a:t>A MySQL database representing a DVD rental store — actors, films, customers, inventory, payments, rentals, staff &amp; stores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444752"/>
            <a:ext cx="201168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865376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599 customers. ID, Name, Email, Address, Active Status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1444752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32304" y="1444752"/>
            <a:ext cx="2011680" cy="34747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432304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3744" y="1865376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16K rentals. Inventory ID, Customer, Rental Date, Return 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1444752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444752"/>
            <a:ext cx="2011680" cy="3474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4608576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865376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16K payments. Amount, Date, Customer ID, Staff 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84848" y="1444752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1444752"/>
            <a:ext cx="201168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1444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76288" y="1865376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1,000 films. Title, Rating, Duration, Category, Rental 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3163824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163824"/>
            <a:ext cx="2011680" cy="3474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" y="3163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3584448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4,581 items. Film copies per store with availability tracking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32304" y="3163824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32304" y="3163824"/>
            <a:ext cx="2011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2432304" y="3163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23744" y="3584448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2 staff. Login, Store, Employment Duration, Rental handling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08576" y="3163824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08576" y="3163824"/>
            <a:ext cx="2011680" cy="3474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4" name="Text 32"/>
          <p:cNvSpPr/>
          <p:nvPr/>
        </p:nvSpPr>
        <p:spPr>
          <a:xfrm>
            <a:off x="4608576" y="3163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0016" y="3584448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2 stores. Address, Manager, Revenue &amp; operational metrics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84848" y="3163824"/>
            <a:ext cx="2011680" cy="162763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84848" y="3163824"/>
            <a:ext cx="2011680" cy="34747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8" name="Text 36"/>
          <p:cNvSpPr/>
          <p:nvPr/>
        </p:nvSpPr>
        <p:spPr>
          <a:xfrm>
            <a:off x="6784848" y="31638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Actor / Category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6288" y="3584448"/>
            <a:ext cx="1828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Actors linked to films; 16 categories for film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14101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58200" y="228600"/>
            <a:ext cx="502920" cy="475488"/>
          </a:xfrm>
          <a:prstGeom prst="roundRect">
            <a:avLst>
              <a:gd name="adj" fmla="val 9615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228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2743200" cy="3767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115568"/>
            <a:ext cx="27432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1155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64592" cy="164592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173736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Extracted data from 15+ Sakila relational tables via complex JOINs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164592" cy="164592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4871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Derived customer segments: &lt;80 (Low), 80–150 (Mid), &gt;150 (High Value)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164592" cy="164592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23697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Aggregated rental counts, revenue, avg duration per staff, store &amp; city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32504"/>
            <a:ext cx="164592" cy="164592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98678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Calculated MoM revenue growth (0.77%) and employment duration metrics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1115568"/>
            <a:ext cx="2743200" cy="3767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18688" y="1115568"/>
            <a:ext cx="274320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3355848" y="11155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Excel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1783080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3630168" y="173736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Preliminary EDA — pivot tables for category-level rental volumes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253288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3630168" y="24871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Validated $67,406.56 total revenue and 16,044 total rental counts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3282696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3630168" y="323697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Cross-checked payment splits: In-Store 41% vs Online 40% vs other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4032504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3630168" y="398678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Cleaned address/city/country data for geographic analysis readiness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1115568"/>
            <a:ext cx="2743200" cy="3767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1115568"/>
            <a:ext cx="274320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11155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Power BI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178308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556248" y="173736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Star schema: fact Rental &amp; Payment linked to 6 dimension tables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253288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6556248" y="24871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DAX measures: MoM%, Customer Segments, Rental Duration buckets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328269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6556248" y="323697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6 interactive pages: Dashboard, Sales, Film, Store, Geography, Staff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403250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6556248" y="3986784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Slicers by Rating, Category, Country, City, Payment channel &amp; Date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2608" y="4754880"/>
            <a:ext cx="8558784" cy="274320"/>
          </a:xfrm>
          <a:prstGeom prst="rect">
            <a:avLst/>
          </a:prstGeom>
          <a:solidFill>
            <a:srgbClr val="FAD4D4"/>
          </a:solidFill>
          <a:ln/>
        </p:spPr>
      </p:sp>
      <p:sp>
        <p:nvSpPr>
          <p:cNvPr id="41" name="Text 39"/>
          <p:cNvSpPr/>
          <p:nvPr/>
        </p:nvSpPr>
        <p:spPr>
          <a:xfrm>
            <a:off x="292608" y="4754880"/>
            <a:ext cx="8558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</a:rPr>
              <a:t>SQL → Data Extraction &amp; Cleaning    |    Excel → EDA &amp; Validation    |    Power BI → Modeling, DAX &amp;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" cy="80467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164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877824"/>
            <a:ext cx="1664208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91440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67.41K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" y="122529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Revenue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38528" y="877824"/>
            <a:ext cx="1664208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38528" y="91440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38528" y="122529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Active Customers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94176" y="877824"/>
            <a:ext cx="1664208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94176" y="91440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94176" y="122529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Rentals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49824" y="877824"/>
            <a:ext cx="1664208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9824" y="91440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9824" y="122529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Rev / Rental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205472" y="877824"/>
            <a:ext cx="1664208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05472" y="91440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05472" y="1225296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Avg Rental Days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1627632"/>
            <a:ext cx="5943600" cy="327355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/home/claude/sakila_pages/page-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664208"/>
            <a:ext cx="5870448" cy="32004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263640" y="1627632"/>
            <a:ext cx="2697480" cy="749808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63640" y="1627632"/>
            <a:ext cx="4572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16733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Revenue peaked in July 2005 (~20K/month)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00800" y="190195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D5"/>
                </a:solidFill>
              </a:rPr>
              <a:t>Monthly revenue trend shows a sharp growth from Feb 2005 baseline of 13K to peak in July–Aug 2005. This indicates a clear seasonality pattern.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263640" y="2450592"/>
            <a:ext cx="2697480" cy="749808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63640" y="2450592"/>
            <a:ext cx="45720" cy="74980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0" y="24963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Mid-Value customers (80–150) dominate revenue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00800" y="272491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D5"/>
                </a:solidFill>
              </a:rPr>
              <a:t>The Revenue by Customer Segments chart shows the 80–150 segment contributes the highest total revenue with the most customers (~500).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263640" y="3273552"/>
            <a:ext cx="2697480" cy="749808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63640" y="3273552"/>
            <a:ext cx="45720" cy="7498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0" y="3319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</a:rPr>
              <a:t>PG-13 &amp; NC-17 hold the largest inventory share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00800" y="354787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D5"/>
                </a:solidFill>
              </a:rPr>
              <a:t>The Sankey chart for Inventory by Film Rating shows PG-13 and NC-17 ratings have the widest flow bands across all movie length categories.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263640" y="4096512"/>
            <a:ext cx="2697480" cy="749808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63640" y="4096512"/>
            <a:ext cx="45720" cy="7498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8" name="Text 35"/>
          <p:cNvSpPr/>
          <p:nvPr/>
        </p:nvSpPr>
        <p:spPr>
          <a:xfrm>
            <a:off x="640080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</a:rPr>
              <a:t>Europe &amp; Asia are active revenue geographies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00800" y="43708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D5D5"/>
                </a:solidFill>
              </a:rPr>
              <a:t>The Revenue by Country map shows the densest customer/revenue clusters in Europe and South/Southeast Asia, especially for active customers.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4A017"/>
                </a:solidFill>
              </a:rPr>
              <a:t>★  6 interactive pages with real-time slicers for Rating, Category, Country, Channel, and Date — enabling complete drill-down for store decision-makers.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" cy="8046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Revenue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164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$67.41K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Revenue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MoM Revenue Growth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Active Customers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6656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Rentals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1627632"/>
            <a:ext cx="5138928" cy="327355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/home/claude/sakila_pages/page-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664208"/>
            <a:ext cx="5065776" cy="32004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40680" y="1627632"/>
            <a:ext cx="352044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1627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does revenue trend over time and how is it distributed across customer segments and channels?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40680" y="208483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2084832"/>
            <a:ext cx="54864" cy="8778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Shape 22"/>
          <p:cNvSpPr/>
          <p:nvPr/>
        </p:nvSpPr>
        <p:spPr>
          <a:xfrm>
            <a:off x="5559552" y="241401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3"/>
          <p:cNvSpPr/>
          <p:nvPr/>
        </p:nvSpPr>
        <p:spPr>
          <a:xfrm>
            <a:off x="5559552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33872" y="21396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Mid-Value segment (80–150 rentals) drives peak revenue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33872" y="238658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segment chart shows 80–150 customers contribute $10K+ total revenue with ~500 customers — the largest and most valuable cohort.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40680" y="304495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40680" y="3044952"/>
            <a:ext cx="54864" cy="8778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Shape 28"/>
          <p:cNvSpPr/>
          <p:nvPr/>
        </p:nvSpPr>
        <p:spPr>
          <a:xfrm>
            <a:off x="5559552" y="337413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29"/>
          <p:cNvSpPr/>
          <p:nvPr/>
        </p:nvSpPr>
        <p:spPr>
          <a:xfrm>
            <a:off x="5559552" y="3374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33872" y="30998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In-Store vs Online split is nearly equal: 41% vs 40%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833872" y="334670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donut chart shows Payment Count 8K (10%) In-Store and 8K (10%) Online, with Total Revenue $34K (41%) In-Store vs $33K (40%) Online — indicating strong omnichannel balance.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40680" y="400507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40680" y="4005072"/>
            <a:ext cx="54864" cy="8778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4"/>
          <p:cNvSpPr/>
          <p:nvPr/>
        </p:nvSpPr>
        <p:spPr>
          <a:xfrm>
            <a:off x="5559552" y="4334256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5"/>
          <p:cNvSpPr/>
          <p:nvPr/>
        </p:nvSpPr>
        <p:spPr>
          <a:xfrm>
            <a:off x="5559552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3872" y="4059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Q3-2005 was the highest revenue quarter ($6K+)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33872" y="430682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Quarterly Revenue by Segmentation chart shows Q3-2005 and Q2-2005 were the two strongest quarters, with Q1-2006 significantly lower — signalling business decline post-peak.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solidFill>
            <a:srgbClr val="2B1A2E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4937760"/>
            <a:ext cx="8549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4A017"/>
                </a:solidFill>
              </a:rPr>
              <a:t>★  Takeaway: Revenue growth of only 0.77% MoM signals plateau risk — aggressive re-engagement of Low Value (&lt;80 rental) customers could unlock the next growth wave.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" cy="80467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 &amp; Inventory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164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Films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4,581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Inventory Count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Avg Rental Rate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6656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Unique Categories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1627632"/>
            <a:ext cx="5138928" cy="327355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/home/claude/sakila_pages/page-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664208"/>
            <a:ext cx="5065776" cy="32004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40680" y="1627632"/>
            <a:ext cx="3520440" cy="3657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1627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Which film categories and ratings generate the most rentals, and how is inventory distributed?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40680" y="208483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2084832"/>
            <a:ext cx="54864" cy="87782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Shape 22"/>
          <p:cNvSpPr/>
          <p:nvPr/>
        </p:nvSpPr>
        <p:spPr>
          <a:xfrm>
            <a:off x="5559552" y="2414016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3"/>
          <p:cNvSpPr/>
          <p:nvPr/>
        </p:nvSpPr>
        <p:spPr>
          <a:xfrm>
            <a:off x="5559552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33872" y="21396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</a:rPr>
              <a:t>Sports leads inventory with 344 items; Family follows with 310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33872" y="238658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category treemap shows Sports (344), Family (310), Animation (335), Drama (300), and Action (312) as the top 5 inventory categories — reflecting broad customer tastes.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40680" y="304495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40680" y="3044952"/>
            <a:ext cx="54864" cy="87782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Shape 28"/>
          <p:cNvSpPr/>
          <p:nvPr/>
        </p:nvSpPr>
        <p:spPr>
          <a:xfrm>
            <a:off x="5559552" y="3374136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2" name="Text 29"/>
          <p:cNvSpPr/>
          <p:nvPr/>
        </p:nvSpPr>
        <p:spPr>
          <a:xfrm>
            <a:off x="5559552" y="3374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33872" y="30998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</a:rPr>
              <a:t>Games &amp; Travel have the highest avg rental rate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833872" y="334670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horizontal bar chart shows Games and Travel category avg rates far exceed the $2.98 benchmark. Action and Documentary have the lowest rates ($2.67–$2.76), indicating pricing opportunity.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40680" y="400507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40680" y="4005072"/>
            <a:ext cx="54864" cy="87782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7" name="Shape 34"/>
          <p:cNvSpPr/>
          <p:nvPr/>
        </p:nvSpPr>
        <p:spPr>
          <a:xfrm>
            <a:off x="5559552" y="4334256"/>
            <a:ext cx="182880" cy="1828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8" name="Text 35"/>
          <p:cNvSpPr/>
          <p:nvPr/>
        </p:nvSpPr>
        <p:spPr>
          <a:xfrm>
            <a:off x="5559552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3872" y="4059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017"/>
                </a:solidFill>
              </a:rPr>
              <a:t>Category distribution is nearly even at ~5.7–7.4%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33872" y="430682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donut chart shows all 16 categories contribute between 5.6%–7.4% of films — indicating a well-balanced collection with no single category dominating over-proportionately.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solidFill>
            <a:srgbClr val="2B1A2E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4937760"/>
            <a:ext cx="8549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4A017"/>
                </a:solidFill>
              </a:rPr>
              <a:t>★  Takeaway: Games and Travel command premium rental rates but may have lower inventory — increasing stock in these high-rate categories could directly boost per-rental revenue.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" cy="8046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&amp; Operations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164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$67.41K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Store Revenue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Avg Rental Days (Staff)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16,044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Rentals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6656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Stores / Staff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1627632"/>
            <a:ext cx="5138928" cy="327355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/home/claude/sakila_pages/page-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664208"/>
            <a:ext cx="5065776" cy="32004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40680" y="1627632"/>
            <a:ext cx="352044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1627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does store revenue vary by month and day of week, and which staff drives the most rentals?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40680" y="208483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2084832"/>
            <a:ext cx="54864" cy="8778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Shape 22"/>
          <p:cNvSpPr/>
          <p:nvPr/>
        </p:nvSpPr>
        <p:spPr>
          <a:xfrm>
            <a:off x="5559552" y="2414016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3"/>
          <p:cNvSpPr/>
          <p:nvPr/>
        </p:nvSpPr>
        <p:spPr>
          <a:xfrm>
            <a:off x="5559552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33872" y="21396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</a:rPr>
              <a:t>Jul &amp; Aug 2005 are peak months — both stores perform best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33872" y="238658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Store Wise Monthly Revenue chart shows Jul-2005 and Aug-2005 with $10K+ combined revenue for Store 1 &amp; 2. Feb-2006 drops sharply, indicating seasonal decline.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40680" y="304495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40680" y="3044952"/>
            <a:ext cx="54864" cy="8778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Shape 28"/>
          <p:cNvSpPr/>
          <p:nvPr/>
        </p:nvSpPr>
        <p:spPr>
          <a:xfrm>
            <a:off x="5559552" y="3374136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2" name="Text 29"/>
          <p:cNvSpPr/>
          <p:nvPr/>
        </p:nvSpPr>
        <p:spPr>
          <a:xfrm>
            <a:off x="5559552" y="3374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33872" y="30998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</a:rPr>
              <a:t>Tuesday is the highest revenue day of the week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833872" y="334670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Revenue by Store in a Week line chart shows both Store 1 and Store 2 peak on Tuesday, with a steady decline through to Wednesday. Weekend revenue is moderate.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40680" y="400507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40680" y="4005072"/>
            <a:ext cx="54864" cy="8778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Shape 34"/>
          <p:cNvSpPr/>
          <p:nvPr/>
        </p:nvSpPr>
        <p:spPr>
          <a:xfrm>
            <a:off x="5559552" y="4334256"/>
            <a:ext cx="182880" cy="182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8" name="Text 35"/>
          <p:cNvSpPr/>
          <p:nvPr/>
        </p:nvSpPr>
        <p:spPr>
          <a:xfrm>
            <a:off x="5559552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3872" y="4059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</a:rPr>
              <a:t>Jon Stephens handles ALL 8,121 rentals per month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33872" y="430682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staff table shows Jon Stephens (Staff 2) manages 8,121 rentals with $12,216.49 revenue in Aug-2005, and avg rental duration of 5.01 days — consistent high productivity.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solidFill>
            <a:srgbClr val="2B1A2E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4937760"/>
            <a:ext cx="8549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4A017"/>
                </a:solidFill>
              </a:rPr>
              <a:t>★  Takeaway: Both stores are nearly identical in staff productivity (5.04 vs 5.01 avg days) — store-level differentiation through category specialization could maximize each store's unique revenue potential.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" cy="8046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&amp; Geographic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164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09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Customers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Countries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Cities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6656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&lt;80 / 80–150 / &gt;150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Customer Segments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1627632"/>
            <a:ext cx="5138928" cy="327355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/home/claude/sakila_pages/page-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664208"/>
            <a:ext cx="5065776" cy="32004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40680" y="1627632"/>
            <a:ext cx="3520440" cy="365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1627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are customers and revenue distributed globally, and which cities/segments drive the most value?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40680" y="208483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2084832"/>
            <a:ext cx="54864" cy="87782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Shape 22"/>
          <p:cNvSpPr/>
          <p:nvPr/>
        </p:nvSpPr>
        <p:spPr>
          <a:xfrm>
            <a:off x="5559552" y="2414016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3"/>
          <p:cNvSpPr/>
          <p:nvPr/>
        </p:nvSpPr>
        <p:spPr>
          <a:xfrm>
            <a:off x="5559552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33872" y="21396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Aurora and London lead city-level customer count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33872" y="238658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Customer Distribution by City chart shows Aurora and London have the highest customer totals, predominantly Mid-Value (80–150) customers, indicating mature high-spend markets.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40680" y="304495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40680" y="3044952"/>
            <a:ext cx="54864" cy="87782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1" name="Shape 28"/>
          <p:cNvSpPr/>
          <p:nvPr/>
        </p:nvSpPr>
        <p:spPr>
          <a:xfrm>
            <a:off x="5559552" y="3374136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2" name="Text 29"/>
          <p:cNvSpPr/>
          <p:nvPr/>
        </p:nvSpPr>
        <p:spPr>
          <a:xfrm>
            <a:off x="5559552" y="3374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33872" y="30998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High-Value (&gt;150) customers are geographically concentrated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833872" y="334670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London shows the only visible High Value (purple) customer segment at city level, while most cities are dominated by Mid-Value (red) customers — 80–150 rental bracket.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40680" y="400507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40680" y="4005072"/>
            <a:ext cx="54864" cy="87782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7" name="Shape 34"/>
          <p:cNvSpPr/>
          <p:nvPr/>
        </p:nvSpPr>
        <p:spPr>
          <a:xfrm>
            <a:off x="5559552" y="4334256"/>
            <a:ext cx="182880" cy="1828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8" name="Text 35"/>
          <p:cNvSpPr/>
          <p:nvPr/>
        </p:nvSpPr>
        <p:spPr>
          <a:xfrm>
            <a:off x="5559552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3872" y="4059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</a:rPr>
              <a:t>Revenue vs. customer count has a non-linear relationship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33872" y="430682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scatter plot shows some countries with only 20–30 customers generate $5K+ in revenue, while countries with 50+ customers may generate less — indicating quality beats quantity in revenue terms.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solidFill>
            <a:srgbClr val="2B1A2E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4937760"/>
            <a:ext cx="8549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4A017"/>
                </a:solidFill>
              </a:rPr>
              <a:t>★  Takeaway: With 599 cities across 109 countries, the geographic spread is vast but thin — concentrating marketing efforts on Aurora, London, and countries with high revenue-per-customer ratios would maximize ROI.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&amp; HR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58200" y="164592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164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10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Staff Members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7744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yrs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Avg Employment Duration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Avg Rental Duration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766560" y="877824"/>
            <a:ext cx="2084832" cy="658368"/>
          </a:xfrm>
          <a:prstGeom prst="roundRect">
            <a:avLst>
              <a:gd name="adj" fmla="val 9722"/>
            </a:avLst>
          </a:prstGeom>
          <a:solidFill>
            <a:srgbClr val="FAD4D4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91440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16,044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1216152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1A1A"/>
                </a:solidFill>
              </a:rPr>
              <a:t>Total Rentals Managed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2880" y="1627632"/>
            <a:ext cx="5138928" cy="3273552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/home/claude/sakila_pages/page-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456" y="1664208"/>
            <a:ext cx="5065776" cy="32004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40680" y="1627632"/>
            <a:ext cx="35204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1627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FFFF"/>
                </a:solidFill>
              </a:rPr>
              <a:t>Q: How do the two staff members compare in rental performance, revenue contribution, and duration handling?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40680" y="208483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2084832"/>
            <a:ext cx="54864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2"/>
          <p:cNvSpPr/>
          <p:nvPr/>
        </p:nvSpPr>
        <p:spPr>
          <a:xfrm>
            <a:off x="5559552" y="241401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5559552" y="2414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33872" y="21396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Both staff have identical 20-year employment tenure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33872" y="238658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Staff 1 and Staff 2 both show Average Employment Duration of 20.00 years — indicating an experienced, long-standing team with high institutional knowledge.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40680" y="304495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40680" y="3044952"/>
            <a:ext cx="54864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8"/>
          <p:cNvSpPr/>
          <p:nvPr/>
        </p:nvSpPr>
        <p:spPr>
          <a:xfrm>
            <a:off x="5559552" y="337413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29"/>
          <p:cNvSpPr/>
          <p:nvPr/>
        </p:nvSpPr>
        <p:spPr>
          <a:xfrm>
            <a:off x="5559552" y="3374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833872" y="30998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Staff 2 generates slightly more revenue ($33,924 vs $33,482)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833872" y="334670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Despite nearly equal rental counts (8,121 vs 7,923), Staff 2 (Jon Stephens) generates $441 more revenue — suggesting a marginally better ability to convert rentals into higher-value transactions.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440680" y="4005072"/>
            <a:ext cx="3520440" cy="877824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40680" y="4005072"/>
            <a:ext cx="54864" cy="8778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4"/>
          <p:cNvSpPr/>
          <p:nvPr/>
        </p:nvSpPr>
        <p:spPr>
          <a:xfrm>
            <a:off x="5559552" y="4334256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5"/>
          <p:cNvSpPr/>
          <p:nvPr/>
        </p:nvSpPr>
        <p:spPr>
          <a:xfrm>
            <a:off x="5559552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833872" y="4059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10+ day rental duration bucket generates highest revenue per rental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33872" y="4306824"/>
            <a:ext cx="3017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D5"/>
                </a:solidFill>
              </a:rPr>
              <a:t>The duration table shows the '10+ days' rental bucket has Revenue_per_Rental of $523 (Staff 1) and $848 (Staff 2) — far exceeding shorter rental durations, indicating long-term rentals are the most profitable.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82880" y="4937760"/>
            <a:ext cx="8778240" cy="182880"/>
          </a:xfrm>
          <a:prstGeom prst="rect">
            <a:avLst/>
          </a:prstGeom>
          <a:solidFill>
            <a:srgbClr val="2B1A2E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4937760"/>
            <a:ext cx="8549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4A017"/>
                </a:solidFill>
              </a:rPr>
              <a:t>★  Takeaway: With only 2 staff managing 16,044 rentals across 2 stores, the team is highly efficient. Training staff to upsell 10+ day rental durations could significantly boost per-rental revenue from $4.20 toward $500+ brackets.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14101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58200" y="228600"/>
            <a:ext cx="502920" cy="475488"/>
          </a:xfrm>
          <a:prstGeom prst="roundRect">
            <a:avLst>
              <a:gd name="adj" fmla="val 9615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228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11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1280160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64208" y="1152144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$67.41K total revenue with 0.77% MoM growth. Q3-2005 was peak quarter. In-Store (41%) and Online (40%) are nearly equal — strong omnichannel balance established.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83664"/>
            <a:ext cx="1280160" cy="7132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88366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Film &amp; Inventory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1956816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1,000 films, 16 categories, 4,581 inventory items. Sports leads with 344 items. Games &amp; Travel command the highest rental rates — but may be under-stocked relative to demand.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88336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88336"/>
            <a:ext cx="1280160" cy="7132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68833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Operations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2761488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Jul–Aug 2005 were peak revenue months ($10K+). Tuesday is the highest-performing day. Both stores perform comparably — specialization could unlock differentiated growth.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93008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93008"/>
            <a:ext cx="1280160" cy="7132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9300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64208" y="3566160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599 customers across 109 countries, 599 cities. Aurora and London lead city-level count. Revenue-per-customer is non-linear — quality of customer &gt; quantity of customers.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297680"/>
            <a:ext cx="8595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297680"/>
            <a:ext cx="1280160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29768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&amp; HR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64208" y="4370832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 staff, both with 20-year tenures managing 16,044 rentals. 10+ day rental duration generates $500–$848 per rental — vs $4.20 average. Massive upsell opportunity exists.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9601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458200" y="228600"/>
            <a:ext cx="502920" cy="475488"/>
          </a:xfrm>
          <a:prstGeom prst="roundRect">
            <a:avLst>
              <a:gd name="adj" fmla="val 9615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8458200" y="228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018"/>
                </a:solidFill>
              </a:rPr>
              <a:t>12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79392" cy="1188720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71323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713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152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Re-engage Low-Value Customers (&lt;80)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14630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Target &lt;80 rental customers with personalized promotions to move them into the 80–150 Mid-Value bracket, which delivers the highest total revenue.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6592" y="1078992"/>
            <a:ext cx="4279392" cy="1188720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078992"/>
            <a:ext cx="713232" cy="1188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078992"/>
            <a:ext cx="713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41264" y="1152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Increase Games &amp; Travel Inventory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41264" y="14630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These categories command the highest avg rental rates. Stocking more titles here directly improves revenue per rental without discounting.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4279392" cy="1188720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77440"/>
            <a:ext cx="713232" cy="1188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377440"/>
            <a:ext cx="713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24505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8F"/>
                </a:solidFill>
              </a:rPr>
              <a:t>Leverage Tuesday Peak for Promotions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78992" y="27614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Tuesday consistently generates peak daily revenue. Launch weekly deal campaigns on Mondays to pull forward demand and extend the Tuesday–Wednesday revenue window.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2377440"/>
            <a:ext cx="4279392" cy="1188720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377440"/>
            <a:ext cx="713232" cy="11887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2377440"/>
            <a:ext cx="713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41264" y="24505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</a:rPr>
              <a:t>Focus Geographic Marketing on Aurora &amp; London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41264" y="27614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These cities lead in customer count and Mid-Value segment density. Targeted loyalty programs here would yield the highest return on marketing spend.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675888"/>
            <a:ext cx="4279392" cy="1188720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75888"/>
            <a:ext cx="71323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675888"/>
            <a:ext cx="713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8992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Train Staff on 10+ Day Rental Upselling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78992" y="40599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10+ day rentals generate $500–$848/rental vs the $4.20 average. A structured upsell script for both staff could dramatically increase per-rental revenue.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36592" y="3675888"/>
            <a:ext cx="4279392" cy="1188720"/>
          </a:xfrm>
          <a:prstGeom prst="rect">
            <a:avLst/>
          </a:prstGeom>
          <a:solidFill>
            <a:srgbClr val="1C1420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675888"/>
            <a:ext cx="713232" cy="1188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592" y="3675888"/>
            <a:ext cx="713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541264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6F51"/>
                </a:solidFill>
              </a:rPr>
              <a:t>Stabilize Post-Peak Revenue (2006 Decline)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41264" y="40599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D5"/>
                </a:solidFill>
              </a:rPr>
              <a:t>Q1-2006 shows a sharp revenue decline. Introduce seasonal bundles, extended rental offers, and new title promotions to rebuild momentum in early-year slow periods.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22860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" y="77724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" y="132588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" y="187452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" y="242316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" y="297180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" y="352044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" y="406908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" y="4617720"/>
            <a:ext cx="320040" cy="320040"/>
          </a:xfrm>
          <a:prstGeom prst="rect">
            <a:avLst>
              <a:gd name="adj" fmla="val 11429"/>
            </a:avLst>
          </a:prstGeom>
          <a:solidFill>
            <a:srgbClr val="0A0A0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C142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57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85800" y="1078992"/>
            <a:ext cx="45720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18872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D5"/>
                </a:solidFill>
              </a:rPr>
              <a:t>This Power BI dashboard for Sakila DVD Rental transforms raw transactional data into a fully interactive BI system — covering 5 analysis domains across 599 customers, 16K rentals, 1,000 films, 2 stores, and 109 countries.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2377440"/>
            <a:ext cx="182880" cy="1828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331720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SQL + Excel pipeline: clean, validated data from 15+ Sakila tables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2852928"/>
            <a:ext cx="182880" cy="1828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807208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DAX measures: MoM%, Customer Segments, Duration Buckets, Rev/Rental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328416"/>
            <a:ext cx="182880" cy="1828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282696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 interactive Power BI pages with slicers for Rating, Category, Country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3803904"/>
            <a:ext cx="182880" cy="1828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758184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business domains analyzed with insights + actionable recommendations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279392"/>
            <a:ext cx="182880" cy="1828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233672"/>
            <a:ext cx="4983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 strategic recommendations to drive revenue, inventory &amp; customer growth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384048"/>
            <a:ext cx="2606040" cy="786384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55080" y="384048"/>
            <a:ext cx="54864" cy="7863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29768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0" y="58521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Analysis Modules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1316736"/>
            <a:ext cx="2606040" cy="786384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1316736"/>
            <a:ext cx="54864" cy="78638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1362456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98080" y="15179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Films Analyzed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2249424"/>
            <a:ext cx="2606040" cy="786384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5080" y="2249424"/>
            <a:ext cx="54864" cy="78638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2295144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16K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498080" y="245059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Rentals Processed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3182112"/>
            <a:ext cx="2606040" cy="786384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55080" y="3182112"/>
            <a:ext cx="54864" cy="7863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3227832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67.41K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498080" y="3383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Revenue Tracked ($)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55080" y="4114800"/>
            <a:ext cx="2606040" cy="786384"/>
          </a:xfrm>
          <a:prstGeom prst="rect">
            <a:avLst/>
          </a:prstGeom>
          <a:solidFill>
            <a:srgbClr val="2B1A2E"/>
          </a:solidFill>
          <a:ln/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4114800"/>
            <a:ext cx="54864" cy="7863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160520"/>
            <a:ext cx="1005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498080" y="431596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D5"/>
                </a:solidFill>
              </a:rPr>
              <a:t>Countries Covered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2B1A2E"/>
          </a:solidFill>
          <a:ln/>
        </p:spPr>
      </p:sp>
      <p:sp>
        <p:nvSpPr>
          <p:cNvPr id="47" name="Text 4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8C8C"/>
                </a:solidFill>
              </a:rPr>
              <a:t>Pavan Kumar Magandi  ·  MBA  ·  pavanmagandi@gmail.com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Sakila DVD Rental – Power BI Dashboard</dc:title>
  <dc:subject>PptxGenJS Presentation</dc:subject>
  <dc:creator>Pavan Kumar Magandi</dc:creator>
  <cp:lastModifiedBy>Pavan Kumar Magandi</cp:lastModifiedBy>
  <cp:revision>1</cp:revision>
  <dcterms:created xsi:type="dcterms:W3CDTF">2026-05-16T16:54:29Z</dcterms:created>
  <dcterms:modified xsi:type="dcterms:W3CDTF">2026-05-16T16:54:29Z</dcterms:modified>
</cp:coreProperties>
</file>